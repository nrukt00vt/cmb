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0"/>
    <p:restoredTop sz="94658"/>
  </p:normalViewPr>
  <p:slideViewPr>
    <p:cSldViewPr snapToGrid="0">
      <p:cViewPr varScale="1">
        <p:scale>
          <a:sx n="115" d="100"/>
          <a:sy n="115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450A-0104-FDAD-609A-17355A32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F247-78C9-A431-3E9A-C41E92AD8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C4FC3-769C-10B8-DA5F-7B4A75C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9A78-C325-4103-DC96-B0DB151B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B841-B345-04F1-B645-63043A58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1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F8AD-3B6D-6FCE-2F8D-5C33674C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FAD8-BC09-0CC1-D692-717CFD31E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A131-0E0B-915D-5857-B7BAB8BE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9EEF-9182-1E62-D9F4-D20216D6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C2FC-9C60-700C-ABFC-B6579A12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5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151A-0F51-6707-0FEF-168CC031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48823-77F5-F507-0C1F-7851EB687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E7C5-E242-9041-A820-30FF555A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95631-736B-FE69-7FF1-1CB32C7A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58EE-A6EF-1A9E-B061-BD419915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F8A1-1E00-93F2-8298-C5107E6E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9DD9-FF34-ADF3-953C-0E33F0812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4C0D3-855E-F091-E57A-02885ED05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B9104-252C-74E7-E50E-3949CC3A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BC718-A865-A97B-9206-46A44F71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53F72-2540-460F-6CCC-5118FD49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E969-478A-1D27-126B-0C08525D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7BEA-73F4-4729-458B-DF99F227F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3A36E-AEBA-C3E8-69D8-5ECACA7F6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38E22-B4E9-B09A-E448-BF03409A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B5B2F-7EC2-F51C-5F11-8F93E22A0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C652D-697C-DB63-FE4E-45607252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0198A-AA71-480A-66E0-95FB5A2E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EAC0B-5D78-4E7E-F965-1A89BCD4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8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7462-5BA1-E166-84CE-BF83D500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1081D-F3EF-27E6-DBD7-44723DAB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7E803-FD00-87BE-FF84-012D2A8B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FCA0A-46F6-49A7-20D2-A0D79345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1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B9237-1FCC-0B4D-458B-2683301A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42A94-D472-8227-1F76-E78D898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1D40C-4396-6AB5-1F35-1795B9A5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25BC-DF27-3B53-68C9-74399BE7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25DD-F34C-A62F-9B8A-CE5B42F9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9FF41-80CA-7682-840E-584B0D8DD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D7BA3-AD6A-1AFD-65E0-8BBA3CD2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8B47F-9FF0-5D0A-BA21-7DB65F2A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BC246-CDEB-D975-1CEF-EA231AA0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37D7-41A5-816F-5A2E-DB4FF473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AED5E-6725-23C9-B69A-26BB518AD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B041B-381A-159F-586E-B118AC549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4B5F-728B-B0FB-0E13-DD44DA41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603D6-93F4-C0AA-0B0C-C152D31E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4FC69-07AF-2A84-3750-2050546E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78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1F06-757B-D583-CC1B-68B7FE36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45395-B045-DBAF-3E67-BF998EA78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70BAB-60E8-B789-240A-1FD49FF2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56FAB-928C-5904-3E6D-48601510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F45E3-171B-32AB-F7AA-5220A8C9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4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C58DE-5A93-F8AB-06EB-F089A737D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3207A-8D78-48B2-EE14-A0FE1DC0D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9479B-B5B9-5321-2BC8-EC3BC471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196DA-4BDA-468F-AF0B-9214AE0D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6008-12CF-23A3-5A43-4CBC2B8F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5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39B34-F4FD-9948-7787-884AC19F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3D7E7-DF21-5782-39F4-A11BB0C3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1604-B6FA-A658-C67D-E6D685037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52259-3B95-EC47-8056-62021CAF9EA5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80900-E083-65B1-0866-9E89E9368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2765-9375-086D-74E4-E1B2F58B8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1CB66-A1F3-AC4E-91DC-96AC7BC81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6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03D8-6336-DDA7-981E-07D1F6B3B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5D085-1F9E-32B9-2586-FBC45F9FC2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0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5456-54B7-0AF8-6DCA-4F80033C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700F-8A50-1C95-9730-C80A0D48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model, data, parameters</a:t>
            </a:r>
          </a:p>
          <a:p>
            <a:r>
              <a:rPr lang="en-US" dirty="0"/>
              <a:t>Run baseline simulation and create epidemic curves</a:t>
            </a:r>
          </a:p>
          <a:p>
            <a:r>
              <a:rPr lang="en-US" dirty="0"/>
              <a:t>Modify transmission/recovery</a:t>
            </a:r>
          </a:p>
          <a:p>
            <a:r>
              <a:rPr lang="en-US" dirty="0"/>
              <a:t>Modify mobility</a:t>
            </a:r>
          </a:p>
        </p:txBody>
      </p:sp>
    </p:spTree>
    <p:extLst>
      <p:ext uri="{BB962C8B-B14F-4D97-AF65-F5344CB8AC3E}">
        <p14:creationId xmlns:p14="http://schemas.microsoft.com/office/powerpoint/2010/main" val="183941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AE9D-4A61-4D87-F73F-73501151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6A1AB-9449-C616-D365-7560AC56C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we are working with is a directly-transmitted SIRS model</a:t>
            </a:r>
          </a:p>
          <a:p>
            <a:pPr lvl="1"/>
            <a:r>
              <a:rPr lang="en-US" dirty="0"/>
              <a:t>Eulerian movement</a:t>
            </a:r>
          </a:p>
          <a:p>
            <a:pPr lvl="1"/>
            <a:r>
              <a:rPr lang="en-US" dirty="0"/>
              <a:t>Many respiratory diseases, including COVID-19, influenza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55FF9-47B6-00BC-6A84-E0B2FF23BD58}"/>
                  </a:ext>
                </a:extLst>
              </p:cNvPr>
              <p:cNvSpPr txBox="1"/>
              <p:nvPr/>
            </p:nvSpPr>
            <p:spPr>
              <a:xfrm>
                <a:off x="3832514" y="3429000"/>
                <a:ext cx="8359486" cy="2202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1800" b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ar-AE" sz="1800" b="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55FF9-47B6-00BC-6A84-E0B2FF23B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514" y="3429000"/>
                <a:ext cx="8359486" cy="2202911"/>
              </a:xfrm>
              <a:prstGeom prst="rect">
                <a:avLst/>
              </a:prstGeom>
              <a:blipFill>
                <a:blip r:embed="rId2"/>
                <a:stretch>
                  <a:fillRect t="-42529" b="-57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731EEC-4CCB-3880-1177-29361CD391AE}"/>
                  </a:ext>
                </a:extLst>
              </p:cNvPr>
              <p:cNvSpPr txBox="1"/>
              <p:nvPr/>
            </p:nvSpPr>
            <p:spPr>
              <a:xfrm>
                <a:off x="-566304" y="3631962"/>
                <a:ext cx="6099462" cy="1499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𝑝𝑎𝑡𝑐h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patch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specific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recovery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rate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𝑖𝑚𝑚𝑢𝑛𝑖𝑡𝑦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𝑚𝑜𝑣𝑒𝑚𝑒𝑛𝑡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731EEC-4CCB-3880-1177-29361CD39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6304" y="3631962"/>
                <a:ext cx="6099462" cy="1499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08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5293-66F3-5C5F-D598-23B019C3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7A0D-1B33-442A-F9D3-FD35C856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623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Initialize a human population</a:t>
            </a:r>
          </a:p>
          <a:p>
            <a:pPr lvl="1"/>
            <a:r>
              <a:rPr lang="en-US" dirty="0"/>
              <a:t>How many patches? How many people in each patch? Who is initially infected?</a:t>
            </a:r>
          </a:p>
          <a:p>
            <a:r>
              <a:rPr lang="en-US" dirty="0"/>
              <a:t>Use mobility data to create adjacency matrix</a:t>
            </a:r>
          </a:p>
          <a:p>
            <a:r>
              <a:rPr lang="en-US" dirty="0"/>
              <a:t>Begin simulation</a:t>
            </a:r>
          </a:p>
          <a:p>
            <a:pPr lvl="1"/>
            <a:r>
              <a:rPr lang="en-US" dirty="0"/>
              <a:t>Infection/recovery are separate steps from movement</a:t>
            </a:r>
          </a:p>
          <a:p>
            <a:pPr lvl="1"/>
            <a:r>
              <a:rPr lang="en-US" dirty="0"/>
              <a:t>Within-patch transmission, then between-patch movement</a:t>
            </a:r>
          </a:p>
          <a:p>
            <a:r>
              <a:rPr lang="en-US" dirty="0"/>
              <a:t>Human population object changes; use this to plot epidemic curve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B2C86-8FE3-825F-710C-7D8E24A4EF33}"/>
                  </a:ext>
                </a:extLst>
              </p:cNvPr>
              <p:cNvSpPr/>
              <p:nvPr/>
            </p:nvSpPr>
            <p:spPr>
              <a:xfrm>
                <a:off x="5110845" y="2120047"/>
                <a:ext cx="1794704" cy="978653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Susceptible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B2C86-8FE3-825F-710C-7D8E24A4E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845" y="2120047"/>
                <a:ext cx="1794704" cy="978653"/>
              </a:xfrm>
              <a:prstGeom prst="rect">
                <a:avLst/>
              </a:prstGeom>
              <a:blipFill>
                <a:blip r:embed="rId2"/>
                <a:stretch>
                  <a:fillRect l="-3472" r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5EB792-9F01-C1FB-7781-3D56C8055D48}"/>
                  </a:ext>
                </a:extLst>
              </p:cNvPr>
              <p:cNvSpPr/>
              <p:nvPr/>
            </p:nvSpPr>
            <p:spPr>
              <a:xfrm>
                <a:off x="10295787" y="2120047"/>
                <a:ext cx="1676445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Recovered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A5EB792-9F01-C1FB-7781-3D56C8055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87" y="2120047"/>
                <a:ext cx="1676445" cy="978652"/>
              </a:xfrm>
              <a:prstGeom prst="rect">
                <a:avLst/>
              </a:prstGeom>
              <a:blipFill>
                <a:blip r:embed="rId3"/>
                <a:stretch>
                  <a:fillRect l="-2985" r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261811-32B8-E6AF-BDB9-D58688C937A4}"/>
                  </a:ext>
                </a:extLst>
              </p:cNvPr>
              <p:cNvSpPr/>
              <p:nvPr/>
            </p:nvSpPr>
            <p:spPr>
              <a:xfrm>
                <a:off x="7743771" y="2111169"/>
                <a:ext cx="1637031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Infectious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4261811-32B8-E6AF-BDB9-D58688C93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71" y="2111169"/>
                <a:ext cx="1637031" cy="978652"/>
              </a:xfrm>
              <a:prstGeom prst="rect">
                <a:avLst/>
              </a:prstGeom>
              <a:blipFill>
                <a:blip r:embed="rId4"/>
                <a:stretch>
                  <a:fillRect l="-1527" r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1E6E75-AA63-5ABC-05BD-A6FBFFE57DC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940494" y="2600495"/>
            <a:ext cx="8032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88534E-14FB-2392-B1B2-D8FEFB70BAA1}"/>
              </a:ext>
            </a:extLst>
          </p:cNvPr>
          <p:cNvCxnSpPr>
            <a:cxnSpLocks/>
          </p:cNvCxnSpPr>
          <p:nvPr/>
        </p:nvCxnSpPr>
        <p:spPr>
          <a:xfrm>
            <a:off x="9480963" y="2609373"/>
            <a:ext cx="8148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3D601D-684E-21A7-845B-1FCAF465B062}"/>
                  </a:ext>
                </a:extLst>
              </p:cNvPr>
              <p:cNvSpPr/>
              <p:nvPr/>
            </p:nvSpPr>
            <p:spPr>
              <a:xfrm>
                <a:off x="5110845" y="4352109"/>
                <a:ext cx="1794704" cy="978653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Susceptible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3D601D-684E-21A7-845B-1FCAF465B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845" y="4352109"/>
                <a:ext cx="1794704" cy="978653"/>
              </a:xfrm>
              <a:prstGeom prst="rect">
                <a:avLst/>
              </a:prstGeom>
              <a:blipFill>
                <a:blip r:embed="rId5"/>
                <a:stretch>
                  <a:fillRect l="-3472" r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201FD9-7075-12EA-56F7-0C4E23A4019C}"/>
                  </a:ext>
                </a:extLst>
              </p:cNvPr>
              <p:cNvSpPr/>
              <p:nvPr/>
            </p:nvSpPr>
            <p:spPr>
              <a:xfrm>
                <a:off x="10295787" y="4352109"/>
                <a:ext cx="1676445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Recovered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201FD9-7075-12EA-56F7-0C4E23A401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787" y="4352109"/>
                <a:ext cx="1676445" cy="978652"/>
              </a:xfrm>
              <a:prstGeom prst="rect">
                <a:avLst/>
              </a:prstGeom>
              <a:blipFill>
                <a:blip r:embed="rId6"/>
                <a:stretch>
                  <a:fillRect l="-2985" r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70FB81-E897-DF42-9C5D-38060F4AE9F2}"/>
                  </a:ext>
                </a:extLst>
              </p:cNvPr>
              <p:cNvSpPr/>
              <p:nvPr/>
            </p:nvSpPr>
            <p:spPr>
              <a:xfrm>
                <a:off x="7743771" y="4343231"/>
                <a:ext cx="1637031" cy="97865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Infectious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D70FB81-E897-DF42-9C5D-38060F4AE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771" y="4343231"/>
                <a:ext cx="1637031" cy="978652"/>
              </a:xfrm>
              <a:prstGeom prst="rect">
                <a:avLst/>
              </a:prstGeom>
              <a:blipFill>
                <a:blip r:embed="rId7"/>
                <a:stretch>
                  <a:fillRect l="-1527" r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56932B-72C7-2863-8E0D-448FD296740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940494" y="4832557"/>
            <a:ext cx="80327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92A331-64B1-FBC4-498C-4A39553FD238}"/>
              </a:ext>
            </a:extLst>
          </p:cNvPr>
          <p:cNvCxnSpPr>
            <a:cxnSpLocks/>
          </p:cNvCxnSpPr>
          <p:nvPr/>
        </p:nvCxnSpPr>
        <p:spPr>
          <a:xfrm>
            <a:off x="9480963" y="4841435"/>
            <a:ext cx="8148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U-Turn Arrow 13">
            <a:extLst>
              <a:ext uri="{FF2B5EF4-FFF2-40B4-BE49-F238E27FC236}">
                <a16:creationId xmlns:a16="http://schemas.microsoft.com/office/drawing/2014/main" id="{759DF0E8-36B6-D13C-F3AF-EA5B44FF7245}"/>
              </a:ext>
            </a:extLst>
          </p:cNvPr>
          <p:cNvSpPr/>
          <p:nvPr/>
        </p:nvSpPr>
        <p:spPr>
          <a:xfrm rot="20811516" flipH="1">
            <a:off x="7240266" y="1469575"/>
            <a:ext cx="1462852" cy="735209"/>
          </a:xfrm>
          <a:prstGeom prst="uturnArrow">
            <a:avLst>
              <a:gd name="adj1" fmla="val 8505"/>
              <a:gd name="adj2" fmla="val 17065"/>
              <a:gd name="adj3" fmla="val 18218"/>
              <a:gd name="adj4" fmla="val 75000"/>
              <a:gd name="adj5" fmla="val 10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711B46FA-A3F5-1827-6802-B5F10E53D8EC}"/>
              </a:ext>
            </a:extLst>
          </p:cNvPr>
          <p:cNvSpPr/>
          <p:nvPr/>
        </p:nvSpPr>
        <p:spPr>
          <a:xfrm rot="788484" flipH="1" flipV="1">
            <a:off x="7012344" y="5177487"/>
            <a:ext cx="1462852" cy="735209"/>
          </a:xfrm>
          <a:prstGeom prst="uturnArrow">
            <a:avLst>
              <a:gd name="adj1" fmla="val 8505"/>
              <a:gd name="adj2" fmla="val 17065"/>
              <a:gd name="adj3" fmla="val 18218"/>
              <a:gd name="adj4" fmla="val 75000"/>
              <a:gd name="adj5" fmla="val 10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BB1F6E-B000-E6AC-3C6C-833523B90766}"/>
              </a:ext>
            </a:extLst>
          </p:cNvPr>
          <p:cNvCxnSpPr/>
          <p:nvPr/>
        </p:nvCxnSpPr>
        <p:spPr>
          <a:xfrm>
            <a:off x="6096000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3587EE-7500-FD6C-FE74-01203CFEA94C}"/>
              </a:ext>
            </a:extLst>
          </p:cNvPr>
          <p:cNvCxnSpPr>
            <a:cxnSpLocks/>
          </p:cNvCxnSpPr>
          <p:nvPr/>
        </p:nvCxnSpPr>
        <p:spPr>
          <a:xfrm flipV="1">
            <a:off x="5939589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EC354B-F2AE-408C-A163-7A17FC7BEC4C}"/>
              </a:ext>
            </a:extLst>
          </p:cNvPr>
          <p:cNvCxnSpPr/>
          <p:nvPr/>
        </p:nvCxnSpPr>
        <p:spPr>
          <a:xfrm>
            <a:off x="8642684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068B9A-D385-8D1D-8241-263270555342}"/>
              </a:ext>
            </a:extLst>
          </p:cNvPr>
          <p:cNvCxnSpPr>
            <a:cxnSpLocks/>
          </p:cNvCxnSpPr>
          <p:nvPr/>
        </p:nvCxnSpPr>
        <p:spPr>
          <a:xfrm flipV="1">
            <a:off x="8486273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FCF2D0-D6C6-B539-69C8-EFA34962296F}"/>
              </a:ext>
            </a:extLst>
          </p:cNvPr>
          <p:cNvCxnSpPr/>
          <p:nvPr/>
        </p:nvCxnSpPr>
        <p:spPr>
          <a:xfrm>
            <a:off x="11285621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ABEC0D-FABD-DD55-F45B-20513204D048}"/>
              </a:ext>
            </a:extLst>
          </p:cNvPr>
          <p:cNvCxnSpPr>
            <a:cxnSpLocks/>
          </p:cNvCxnSpPr>
          <p:nvPr/>
        </p:nvCxnSpPr>
        <p:spPr>
          <a:xfrm flipV="1">
            <a:off x="11129210" y="3224463"/>
            <a:ext cx="0" cy="9986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8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E6C0-45EA-5A57-C3BD-1704D252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Run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318-9EA3-E281-03D4-3523F66B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First, create human population object</a:t>
            </a:r>
          </a:p>
          <a:p>
            <a:pPr lvl="1"/>
            <a:r>
              <a:rPr lang="en-US" dirty="0"/>
              <a:t>Define landscape, named “</a:t>
            </a:r>
            <a:r>
              <a:rPr lang="en-US" dirty="0" err="1"/>
              <a:t>pat_locator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InitiatePop</a:t>
            </a:r>
            <a:r>
              <a:rPr lang="en-US" dirty="0"/>
              <a:t>() is then used to create human population object</a:t>
            </a:r>
          </a:p>
          <a:p>
            <a:r>
              <a:rPr lang="en-US" dirty="0"/>
              <a:t>Use mobility data to create adjacency matrix</a:t>
            </a:r>
          </a:p>
          <a:p>
            <a:r>
              <a:rPr lang="en-US" dirty="0"/>
              <a:t>Then, run the baseline simulation</a:t>
            </a:r>
          </a:p>
          <a:p>
            <a:pPr lvl="1"/>
            <a:r>
              <a:rPr lang="en-US" dirty="0" err="1"/>
              <a:t>runSim</a:t>
            </a:r>
            <a:r>
              <a:rPr lang="en-US" dirty="0"/>
              <a:t>()</a:t>
            </a:r>
          </a:p>
          <a:p>
            <a:r>
              <a:rPr lang="en-US" dirty="0"/>
              <a:t>Then, use some of the plotting functions on the final human population object</a:t>
            </a:r>
          </a:p>
          <a:p>
            <a:pPr lvl="1"/>
            <a:r>
              <a:rPr lang="en-US" dirty="0" err="1"/>
              <a:t>Plot_total_curve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Plot_patch_curves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Plot_map_day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6599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3EB4-A223-7F4B-C57F-3083FD4A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45327-9CF6-45BD-6C03-D7330263F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5382" cy="32697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is provided as number of people traveling from one place to another, out of a total population</a:t>
            </a:r>
          </a:p>
          <a:p>
            <a:r>
              <a:rPr lang="en-US" dirty="0"/>
              <a:t>Use this to create a matrix</a:t>
            </a:r>
          </a:p>
          <a:p>
            <a:r>
              <a:rPr lang="en-US" dirty="0"/>
              <a:t>Can create off-diagonal movement rates</a:t>
            </a:r>
          </a:p>
          <a:p>
            <a:pPr lvl="1"/>
            <a:r>
              <a:rPr lang="en-US" dirty="0"/>
              <a:t>This may be too high (people may take multiple trips, getting double counted); can use a multiplier to reduce</a:t>
            </a:r>
          </a:p>
          <a:p>
            <a:r>
              <a:rPr lang="en-US" dirty="0"/>
              <a:t>Then, we fill in the diagonal</a:t>
            </a: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EB5D568-E7DD-05C0-3493-A85080F3BF47}"/>
              </a:ext>
            </a:extLst>
          </p:cNvPr>
          <p:cNvSpPr/>
          <p:nvPr/>
        </p:nvSpPr>
        <p:spPr>
          <a:xfrm>
            <a:off x="7183582" y="1690688"/>
            <a:ext cx="4724399" cy="1216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origin      dest.       movers   users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Montgomery  Roanoke       42     1200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Montgomery  Fairfax       12     1200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Roanoke     Montgomery    55     1800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Fairfax     Montgomery     8     3600</a:t>
            </a:r>
            <a:endParaRPr lang="en-US" sz="13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823045D0-B730-6E5A-809C-7B58DEDF4681}"/>
              </a:ext>
            </a:extLst>
          </p:cNvPr>
          <p:cNvSpPr/>
          <p:nvPr/>
        </p:nvSpPr>
        <p:spPr>
          <a:xfrm>
            <a:off x="7330025" y="3410479"/>
            <a:ext cx="28163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M[i,j] = moversᵢⱼ / usersᵢ</a:t>
            </a:r>
            <a:endParaRPr lang="en-US" sz="20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F7F082FB-0065-C455-74FF-20C8275462F8}"/>
              </a:ext>
            </a:extLst>
          </p:cNvPr>
          <p:cNvSpPr/>
          <p:nvPr/>
        </p:nvSpPr>
        <p:spPr>
          <a:xfrm>
            <a:off x="5604234" y="4678494"/>
            <a:ext cx="28529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M[i,i] = 1 − sum(M[i,−i])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C0276-D789-6B3C-5E18-AB4EB2AE8061}"/>
              </a:ext>
            </a:extLst>
          </p:cNvPr>
          <p:cNvSpPr txBox="1"/>
          <p:nvPr/>
        </p:nvSpPr>
        <p:spPr>
          <a:xfrm>
            <a:off x="477982" y="5095399"/>
            <a:ext cx="11429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&lt;- matrix(0,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n_patches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n_patches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cbind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fr_pat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to_pat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)] &lt;- movers /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fr_users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&lt;-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* 0.1 *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movement_multiplier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diag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&lt;- 1 - 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rowSums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movement_matrix</a:t>
            </a:r>
            <a:r>
              <a:rPr lang="en-US" sz="20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193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926F-D759-CC81-8A30-5FBF4845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Start changing epidemiological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40B65-71D4-CFBC-0821-1586EE78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7750" cy="4351338"/>
          </a:xfrm>
        </p:spPr>
        <p:txBody>
          <a:bodyPr/>
          <a:lstStyle/>
          <a:p>
            <a:r>
              <a:rPr lang="en-US" dirty="0"/>
              <a:t>First, we will change factors across the entire landscape (global parameters)</a:t>
            </a:r>
          </a:p>
          <a:p>
            <a:pPr lvl="1"/>
            <a:r>
              <a:rPr lang="en-US" dirty="0"/>
              <a:t>What happens if the transmission rate of the disease changes?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1B3BD-6317-687F-9A6D-CD5B2E24F26E}"/>
              </a:ext>
            </a:extLst>
          </p:cNvPr>
          <p:cNvSpPr txBox="1"/>
          <p:nvPr/>
        </p:nvSpPr>
        <p:spPr>
          <a:xfrm>
            <a:off x="609600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Since gamma = 1/6, beta/gamma is approximately R0.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Baseline: beta/gamma = 2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lower_R0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 = 1.2/6,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gamma = 1/6,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 = 120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plot_total_curve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(lower_R0,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"Lower transmission: R0 approximately 1.2")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000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E3DD-9F71-45B1-47EE-F24B5F74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Modify mobility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DA76-9483-07EA-EB8C-0DC771912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r>
              <a:rPr lang="en-US" dirty="0"/>
              <a:t>What happens if overall movement rates change?</a:t>
            </a:r>
          </a:p>
          <a:p>
            <a:r>
              <a:rPr lang="en-US" dirty="0"/>
              <a:t>Two scenarios: no mobility at all, and then higher than original levels of mobility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DAF75-1A14-97EA-2887-30C641075228}"/>
              </a:ext>
            </a:extLst>
          </p:cNvPr>
          <p:cNvSpPr txBox="1"/>
          <p:nvPr/>
        </p:nvSpPr>
        <p:spPr>
          <a:xfrm>
            <a:off x="6438900" y="612844"/>
            <a:ext cx="57531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movement_multiplier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days = 120)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movement_multiplier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0.25, days = 120)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rbind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no_mobility$epidemic_curve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"No mobility"),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"Baseline mobility"),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high_mobility$epidemic_curve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"High mobility")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compare_mobility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(day, inf,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linetype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scenario))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(linewidth = 1) +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theme_bw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base_size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16)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4568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F4B3-8B52-0878-4DA4-E6F75E4B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Spatial targeting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2B85-AB77-B7AC-7997-C8DF4897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1500" cy="4351338"/>
          </a:xfrm>
        </p:spPr>
        <p:txBody>
          <a:bodyPr/>
          <a:lstStyle/>
          <a:p>
            <a:r>
              <a:rPr lang="en-US" dirty="0"/>
              <a:t>Reduce transmission in certain counties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F7A5B-4DD0-9E3E-F3CD-522207285DF9}"/>
              </a:ext>
            </a:extLst>
          </p:cNvPr>
          <p:cNvSpPr txBox="1"/>
          <p:nvPr/>
        </p:nvSpPr>
        <p:spPr>
          <a:xfrm>
            <a:off x="5943600" y="68103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target_source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seed_county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"Montgomery",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intervention_counties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"Montgomery",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beta_reduction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0.5,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days = 120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compare_intervention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rbind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"No intervention"),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target_source$epidemic_curve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scenario = "Reduce beta in source county")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compare_intervention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(day, inf,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linetype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scenario)) 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geom_line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(linewidth = 1) + 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theme_bw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base_size</a:t>
            </a:r>
            <a:r>
              <a:rPr lang="en-US" sz="18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16)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0949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858</Words>
  <Application>Microsoft Macintosh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Mono</vt:lpstr>
      <vt:lpstr>Arial</vt:lpstr>
      <vt:lpstr>Cambria Math</vt:lpstr>
      <vt:lpstr>Courier New</vt:lpstr>
      <vt:lpstr>Office Theme</vt:lpstr>
      <vt:lpstr>Tutorial</vt:lpstr>
      <vt:lpstr>Using a model</vt:lpstr>
      <vt:lpstr>Using a Model</vt:lpstr>
      <vt:lpstr>Steps to the model</vt:lpstr>
      <vt:lpstr>Step 1: Run baseline</vt:lpstr>
      <vt:lpstr>Working with the data</vt:lpstr>
      <vt:lpstr>Step 2: Start changing epidemiological parameters</vt:lpstr>
      <vt:lpstr>Step 3: Modify mobility</vt:lpstr>
      <vt:lpstr>Step 4: Spatial targeting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Ruktanonchai, Nick</dc:creator>
  <cp:lastModifiedBy>Ruktanonchai, Nick</cp:lastModifiedBy>
  <cp:revision>3</cp:revision>
  <dcterms:created xsi:type="dcterms:W3CDTF">2026-05-17T21:50:19Z</dcterms:created>
  <dcterms:modified xsi:type="dcterms:W3CDTF">2026-05-17T23:55:06Z</dcterms:modified>
</cp:coreProperties>
</file>